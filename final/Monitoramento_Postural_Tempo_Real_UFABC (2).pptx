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88825"/>
  <p:notesSz cx="6858000" cy="12188825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</c:v>
                </c:pt>
              </c:strCache>
            </c:strRef>
          </c:tx>
          <c:spPr>
            <a:solidFill>
              <a:srgbClr val="0956FF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4,1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C90-46C4-8F7A-561A9EFC9688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11111"/>
                    </a:solidFill>
                    <a:latin typeface="Overpass SemiBold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Facilidade
de uso</c:v>
                </c:pt>
                <c:pt idx="1">
                  <c:v>Confiabilidade do sistema</c:v>
                </c:pt>
                <c:pt idx="2">
                  <c:v>Precisão da
detecção</c:v>
                </c:pt>
                <c:pt idx="3">
                  <c:v>Utilidade do
sistema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4.0999999999999996</c:v>
                </c:pt>
                <c:pt idx="1">
                  <c:v>4.57</c:v>
                </c:pt>
                <c:pt idx="2">
                  <c:v>4.57</c:v>
                </c:pt>
                <c:pt idx="3">
                  <c:v>4.8499999999999996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0-4B86-BC99-0D0EBBE132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8505E"/>
                </a:solidFill>
                <a:latin typeface="Overpas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28D86"/>
                </a:solidFill>
                <a:latin typeface="Overpas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18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Apresentar o problema: desalinhamento postural em atividades prolongadas.
• Apresentar a solução: webcam + visão computacional para feedback em tempo real.
• Objetivo da demonstração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Enfatizar ergonomia e prevenção.
• O sistema não é diagnóstico clínico.
• Destaque: cabeça, ombros e quadril.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Combina fundamentos acadêmicos e uso cotidiano.
• Objetivo central liga-se a três resultados.
• Feedback durante a execução da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Descrever a experiência em poucos passos.
• Posicionamento lateral é essencial.
• Resultado direto na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Apresentar apenas o papel de cada componente.
• Sem aprofundar em código.
• Pipeline integrado de ponta a ponta.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Acompanhar o fluxograma da esquerda para a direita.
• Cada bloco é uma etapa do pipeline.
• Saída final: feedback ao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imagem é reduzida a referências geométricas interpretáveis.
• Pontos coloridos = landmarks.
• Linhas relacionam os segmentos.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Comparação facilita a inspeção visual do resultado.
• Entrada preserva o contexto.
• Saída recebe landmarks e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Processamento contínuo vs. atualização visível do resultado.
• Classificação a cada ~1 segundo.
• Estado 'sem pose' é informado.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Cenários escolhidos para observar o comportamento do sistema.
• Situações distintas de captura.
• Critérios de avaliação definidos.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Separar 'funcionamento do protótipo' de 'validação clínica'.
• Resposta visual coerente com as posturas.
• Ausência de pose é estado reconhecível.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Destacar o resultado sem extrapolar para eficácia clínica.
• Avaliação subjetiva.
• Todas as médias em 5,0.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Resultados apoiam a usabilidade do protótipo.
• Interface considerada intuitiva.
• Tempo real facilitou a compreensão.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Apresentar limitações como oportunidades de melhoria.
• Iluminação, distância e enquadramento.
• Amostra pequena limita generalização.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Síntese dos principais resultados.
• Solução utilizável sem treinamento.
• Antes de apresentar as perspectivas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Conectar cada etapa a uma limitação observada.
• Robustez responde a iluminação/distância.
• Integração aproxima do usuário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Encerrar retomando problema, solução e resultado principal.
• Conduzir a demonstração: alinhada → inadequada → resposta.
•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">
    <p:bg>
      <p:bgPr>
        <a:solidFill>
          <a:srgbClr val="095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8D8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Monitoramento Postural em Tempo Real  ·  UFABC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user/proj/images/hero_cover.png" id="30" name="Google Shape;30;p1"/>
          <p:cNvPicPr preferRelativeResize="0"/>
          <p:nvPr/>
        </p:nvPicPr>
        <p:blipFill rotWithShape="1">
          <a:blip r:embed="rId3">
            <a:alphaModFix/>
          </a:blip>
          <a:srcRect b="0" l="10134" r="10134" t="0"/>
          <a:stretch/>
        </p:blipFill>
        <p:spPr>
          <a:xfrm>
            <a:off x="6720840" y="0"/>
            <a:ext cx="546811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"/>
          <p:cNvSpPr/>
          <p:nvPr/>
        </p:nvSpPr>
        <p:spPr>
          <a:xfrm>
            <a:off x="566928" y="1600200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 SemiBold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verpass SemiBold"/>
                <a:ea typeface="Overpass SemiBold"/>
                <a:cs typeface="Overpass SemiBold"/>
                <a:sym typeface="Overpass SemiBold"/>
              </a:rPr>
              <a:t>SISTEMA DE PROCESSAMENTO VISUAL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1965960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erpas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Monitoramento postural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verpas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em tempo real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66928" y="3794760"/>
            <a:ext cx="566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4ECFF"/>
              </a:buClr>
              <a:buSzPts val="1400"/>
              <a:buFont typeface="Overpass"/>
              <a:buNone/>
            </a:pPr>
            <a:r>
              <a:rPr b="0" i="0" lang="en-US" sz="1400" u="none" cap="none" strike="noStrike">
                <a:solidFill>
                  <a:srgbClr val="E4ECFF"/>
                </a:solidFill>
                <a:latin typeface="Overpass"/>
                <a:ea typeface="Overpass"/>
                <a:cs typeface="Overpass"/>
                <a:sym typeface="Overpass"/>
              </a:rPr>
              <a:t>Análise da postura sentada a partir de uma webcam — apoio à orientação postural durante atividades prolongadas.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585216" y="5074920"/>
            <a:ext cx="20118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566928" y="5257800"/>
            <a:ext cx="5852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verpass"/>
              <a:buNone/>
            </a:pPr>
            <a:r>
              <a:rPr b="1" lang="en-US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Lucas Merino - Luana F. Recucci - Victor Papinelli A. da Silva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FE0FF"/>
              </a:buClr>
              <a:buSzPts val="1200"/>
              <a:buFont typeface="Overpass"/>
              <a:buNone/>
            </a:pPr>
            <a:r>
              <a:rPr b="0" i="0" lang="en-US" sz="1200" u="none" cap="none" strike="noStrike">
                <a:solidFill>
                  <a:srgbClr val="CFE0FF"/>
                </a:solidFill>
                <a:latin typeface="Overpass"/>
                <a:ea typeface="Overpass"/>
                <a:cs typeface="Overpass"/>
                <a:sym typeface="Overpass"/>
              </a:rPr>
              <a:t>Apresentação final — UFABC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problema é comum em atividades de estudo e trabalho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Longos períodos sentado favorecem desalinhamentos posturais.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desalinhamento nem sempre é percebido no momento em que ocorre.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Proposta: oferecer um alerta visual imediato e preventivo.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50292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Ferramenta de apoio — não substitui avaliação médica ou ergonômica.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66360" y="1463040"/>
            <a:ext cx="329184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user/proj/images/posture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2499360"/>
            <a:ext cx="3035808" cy="20238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94376" y="5541264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Postura alinhada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41080" y="1463040"/>
            <a:ext cx="3291840" cy="4480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user/proj/images/posture_slou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499360"/>
            <a:ext cx="3035808" cy="20238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69096" y="5541264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Postura inclinada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objetivo foi transformar a imagem em feedback postural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Conecta o processamento digital de imagens a uma aplicação prática de ergonomia.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956FF"/>
          </a:solidFill>
          <a:ln/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Monitorar a postura de perfil de usuários sentados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572000" y="3429000"/>
            <a:ext cx="3108960" cy="0"/>
          </a:xfrm>
          <a:prstGeom prst="line">
            <a:avLst/>
          </a:prstGeom>
          <a:noFill/>
          <a:ln w="22225">
            <a:solidFill>
              <a:srgbClr val="09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160020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82128" y="1833372"/>
            <a:ext cx="768096" cy="768096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201625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23960" y="1709928"/>
            <a:ext cx="2926080" cy="10149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Detectar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Identificar desalinhamentos corporais.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0" y="3429000"/>
            <a:ext cx="3108960" cy="342900"/>
          </a:xfrm>
          <a:prstGeom prst="line">
            <a:avLst/>
          </a:prstGeom>
          <a:noFill/>
          <a:ln w="22225">
            <a:solidFill>
              <a:srgbClr val="09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680960" y="315468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882128" y="3387852"/>
            <a:ext cx="768096" cy="768096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357073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823960" y="3264408"/>
            <a:ext cx="2926080" cy="10149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Classificar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Interpretar a postura por geometria.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0" y="3429000"/>
            <a:ext cx="3108960" cy="1897380"/>
          </a:xfrm>
          <a:prstGeom prst="line">
            <a:avLst/>
          </a:prstGeom>
          <a:noFill/>
          <a:ln w="22225">
            <a:solidFill>
              <a:srgbClr val="095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680960" y="4709160"/>
            <a:ext cx="4206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882128" y="4942332"/>
            <a:ext cx="768096" cy="768096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512521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23960" y="4818888"/>
            <a:ext cx="2926080" cy="10149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Orientar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Fornecer feedback imediato na atividade.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solução acompanha o usuário durante a atividade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0" y="1463040"/>
            <a:ext cx="5788152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usage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954706"/>
            <a:ext cx="5532120" cy="3113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71616" y="5541264"/>
            <a:ext cx="55321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Cenário de uso: webcam lateral + notebook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566928" cy="566928"/>
          </a:xfrm>
          <a:prstGeom prst="ellipse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câmera é posicionada lateralmente ao usuário.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79192"/>
            <a:ext cx="566928" cy="566928"/>
          </a:xfrm>
          <a:prstGeom prst="ellipse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679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263347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imagem é processada continuamente em Python.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758184"/>
            <a:ext cx="566928" cy="566928"/>
          </a:xfrm>
          <a:prstGeom prst="ellipse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3758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88720" y="37124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Os pontos corporais avaliam a postura.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4837176"/>
            <a:ext cx="566928" cy="566928"/>
          </a:xfrm>
          <a:prstGeom prst="ellipse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4837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88720" y="479145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usuário recebe o resultado na interface.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arquitetura combina Python, OpenCV e MediaPipe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Cada componente tem um papel específico no fluxo de processamento.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57300" y="214884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332" y="240487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886200"/>
            <a:ext cx="229514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Coordena a execução do sistema e a análise dos dados.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6224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6324" y="214884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356" y="2404872"/>
            <a:ext cx="585216" cy="5852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3384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OpenCV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17392" y="3886200"/>
            <a:ext cx="229514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Captura, leitura, conversão e manipulação das imagens.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5248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975348" y="214884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380" y="2404872"/>
            <a:ext cx="585216" cy="5852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12408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MediaPipe Pose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76416" y="3886200"/>
            <a:ext cx="229514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Identifica os pontos anatômicos do corpo (landmarks).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34272" y="173736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834372" y="214884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0404" y="2404872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71432" y="34290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NumPy + Matplotlib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886200"/>
            <a:ext cx="229514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Apoiam os cálculos e a visualização dos resultados.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fluxo transforma frames em uma decisão postural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Da esquerda para a direita: da captura até o alerta ao usuário.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711452" cy="1828800"/>
          </a:xfrm>
          <a:prstGeom prst="roundRect">
            <a:avLst>
              <a:gd name="adj" fmla="val 4274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633472"/>
            <a:ext cx="1711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528572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Captura de imagem / vídeo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50364" y="3282696"/>
            <a:ext cx="237744" cy="201168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69820" y="2468880"/>
            <a:ext cx="1711452" cy="1828800"/>
          </a:xfrm>
          <a:prstGeom prst="roundRect">
            <a:avLst>
              <a:gd name="adj" fmla="val 4274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69820" y="2633472"/>
            <a:ext cx="1711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1260" y="3017520"/>
            <a:ext cx="1528572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Pré-processamento e cor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2984" y="3282696"/>
            <a:ext cx="237744" cy="201168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82440" y="2468880"/>
            <a:ext cx="1711452" cy="1828800"/>
          </a:xfrm>
          <a:prstGeom prst="roundRect">
            <a:avLst>
              <a:gd name="adj" fmla="val 4274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82440" y="2633472"/>
            <a:ext cx="1711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73880" y="3017520"/>
            <a:ext cx="1528572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Detecção de landmarks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75604" y="3282696"/>
            <a:ext cx="237744" cy="201168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95060" y="2468880"/>
            <a:ext cx="1711452" cy="1828800"/>
          </a:xfrm>
          <a:prstGeom prst="roundRect">
            <a:avLst>
              <a:gd name="adj" fmla="val 4274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5060" y="2633472"/>
            <a:ext cx="1711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0" y="3017520"/>
            <a:ext cx="1528572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Cálculo geométrico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88224" y="3282696"/>
            <a:ext cx="237744" cy="201168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07680" y="2468880"/>
            <a:ext cx="1711452" cy="1828800"/>
          </a:xfrm>
          <a:prstGeom prst="roundRect">
            <a:avLst>
              <a:gd name="adj" fmla="val 4274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07680" y="2633472"/>
            <a:ext cx="1711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9120" y="3017520"/>
            <a:ext cx="1528572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Classificação da postura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00844" y="3282696"/>
            <a:ext cx="237744" cy="201168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20300" y="2468880"/>
            <a:ext cx="1711452" cy="1828800"/>
          </a:xfrm>
          <a:prstGeom prst="roundRect">
            <a:avLst>
              <a:gd name="adj" fmla="val 4274"/>
            </a:avLst>
          </a:prstGeom>
          <a:solidFill>
            <a:srgbClr val="0956FF"/>
          </a:solidFill>
          <a:ln w="12700">
            <a:solidFill>
              <a:srgbClr val="0956FF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20300" y="2633472"/>
            <a:ext cx="17114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FE0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111740" y="3017520"/>
            <a:ext cx="1528572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Feedback e alerta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postura é representada por referências corporais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188720" y="1417320"/>
            <a:ext cx="3703320" cy="4617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silhouette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571625"/>
            <a:ext cx="3447288" cy="43091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792224"/>
            <a:ext cx="310896" cy="310896"/>
          </a:xfrm>
          <a:prstGeom prst="ellipse">
            <a:avLst/>
          </a:prstGeom>
          <a:solidFill>
            <a:srgbClr val="0956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169164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Nariz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Referência aproximada para a posição da cabeça.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0" y="3026664"/>
            <a:ext cx="310896" cy="310896"/>
          </a:xfrm>
          <a:prstGeom prst="ellipse">
            <a:avLst/>
          </a:prstGeom>
          <a:solidFill>
            <a:srgbClr val="F2603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0" y="29260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Ombros (E / D)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Referência para o alinhamento superior.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0" y="4261104"/>
            <a:ext cx="310896" cy="310896"/>
          </a:xfrm>
          <a:prstGeom prst="ellipse">
            <a:avLst/>
          </a:prstGeom>
          <a:solidFill>
            <a:srgbClr val="1FA46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41605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Quadris (E / D)</a:t>
            </a:r>
            <a:endParaRPr lang="en-US" sz="15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Referência para a orientação do tronco.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0" y="5349240"/>
            <a:ext cx="6245352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0" y="5440680"/>
            <a:ext cx="5852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Linhas sobrepostas tornam visível a relação entre cabeça, ombros e quadril.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sistema compara a imagem original com a processada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8640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capture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71" y="1591056"/>
            <a:ext cx="4570857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" y="5129784"/>
            <a:ext cx="523036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Entrada — imagem original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45352" y="1463040"/>
            <a:ext cx="5486400" cy="406908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home/user/proj/images/capture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124" y="1591056"/>
            <a:ext cx="4570857" cy="3429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3368" y="5129784"/>
            <a:ext cx="523036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Saída processada — landmarks e linhas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5596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imagem original preserva o contexto da captura.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245352" y="55961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Frames e resultados podem ser salvos para análise posterior.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análise em tempo real atualiza o feedback continuamente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capture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852497"/>
            <a:ext cx="3264408" cy="2448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" y="4581144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Captura contínua de frames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050792" y="3122676"/>
            <a:ext cx="310896" cy="292608"/>
          </a:xfrm>
          <a:prstGeom prst="rightArrow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434840" y="155448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user/proj/images/capture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852497"/>
            <a:ext cx="3264408" cy="24489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62856" y="4581144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Pose identificada no frame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28432" y="3122676"/>
            <a:ext cx="310896" cy="292608"/>
          </a:xfrm>
          <a:prstGeom prst="rightArrow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412480" y="1554480"/>
            <a:ext cx="35204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user/proj/images/inter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852497"/>
            <a:ext cx="3264408" cy="24489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40496" y="4581144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Feedback atualizado (~1 s)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57200" y="534924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Quando nenhuma pose é detectada, </a:t>
            </a:r>
            <a:r>
              <a:rPr lang="en-US" sz="13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interface informa essa condição.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laboratório avaliou diferentes condições de postura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591056"/>
            <a:ext cx="82296" cy="17099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6642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Postura correta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Referência de alinhamento esperado.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36792" y="1463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6792" y="1591056"/>
            <a:ext cx="82296" cy="17099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92824" y="16642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96912" y="164592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Inclinação frontal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Tronco ou cabeça projetados à frente.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82296" cy="17099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9044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88620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Distância inadequada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Posicionamento impróprio à câmera.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6792" y="370332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36792" y="3831336"/>
            <a:ext cx="82296" cy="17099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92824" y="39044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96912" y="3886200"/>
            <a:ext cx="4251960" cy="1600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Mudança dinâmica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Alteração de postura durante a captura.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Critérios observados:  </a:t>
            </a: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detecção  ·  tempo de resposta  ·  facilidade de uso  ·  clareza visual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protótipo demonstrou funcionamento nos cenários testados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508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capture_proces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692477"/>
            <a:ext cx="3264408" cy="2448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" y="4306824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Postura detectada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478231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Pontos e linhas de referência exibidos.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434840" y="1508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user/proj/images/posture_slou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828800"/>
            <a:ext cx="3264408" cy="21762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62856" y="4306824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Alteração de postura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26280" y="478231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Resposta visual acompanhou a mudança.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412480" y="150876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user/proj/images/no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692477"/>
            <a:ext cx="3264408" cy="24489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40496" y="4306824"/>
            <a:ext cx="326440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Ausência de detecção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503920" y="478231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Estado reconhecível e informado.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57200" y="56235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O experimento confirmou a viabilidade do fluxo proposto.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avaliação de campo indicou aceitação máxima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Médias atribuídas pelos participantes (escala de 1 a 5).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029570260"/>
              </p:ext>
            </p:extLst>
          </p:nvPr>
        </p:nvGraphicFramePr>
        <p:xfrm>
          <a:off x="548640" y="1463040"/>
          <a:ext cx="859536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464040" y="2011680"/>
            <a:ext cx="2331720" cy="2743200"/>
          </a:xfrm>
          <a:prstGeom prst="roundRect">
            <a:avLst>
              <a:gd name="adj" fmla="val 3529"/>
            </a:avLst>
          </a:prstGeom>
          <a:solidFill>
            <a:srgbClr val="EEF2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464040" y="2194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4,55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601200" y="324612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 err="1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média</a:t>
            </a: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en-US" sz="1250" dirty="0" err="1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nos</a:t>
            </a: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en-US" sz="1250" dirty="0" err="1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quatro</a:t>
            </a: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en-US" sz="1250" dirty="0" err="1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quesitos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172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928D8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Avaliação subjetiva dos participantes.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interface foi percebida como simples e útil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7607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inte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80" y="1591056"/>
            <a:ext cx="511936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" y="5541264"/>
            <a:ext cx="550468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Visualização em tempo real da análise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46520" y="146304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702552" y="173736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929384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17190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</a:rPr>
              <a:t>4,1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720840" y="27432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Usabilidade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400032" y="1463040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9656064" y="1737360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192938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97312" y="171907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</a:rPr>
              <a:t>4,6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9674352" y="27432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Confiabilidade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46520" y="3822192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702552" y="4096512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4288536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3800" y="407822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</a:rPr>
              <a:t>4,6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6720840" y="5102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Precisão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400032" y="3822192"/>
            <a:ext cx="26974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656064" y="4096512"/>
            <a:ext cx="777240" cy="77724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4288536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497312" y="407822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956FF"/>
                </a:solidFill>
                <a:latin typeface="Overpass SemiBold" pitchFamily="34" charset="0"/>
                <a:ea typeface="Overpass SemiBold" pitchFamily="34" charset="-122"/>
              </a:rPr>
              <a:t>4,9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9674352" y="5102352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Utilidade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446520" y="5806440"/>
            <a:ext cx="5330952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Resposta percebida como coerente com as posturas adotadas — a nota máxima em utilidade indica valor prático.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desempenho depende das condições de captura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Fatores que influenciam a detecção — e apontam melhorias.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14500" y="196596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2231136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004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Iluminação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657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Iluminação inadequada dificulta a detecção dos landmarks.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24" y="1581912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88536" y="160020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545836" y="196596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012" y="2231136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25696" y="32004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Distância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17136" y="3657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distância da câmera influencia o resultado obtido.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581912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119872" y="160020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9377172" y="1965960"/>
            <a:ext cx="1097280" cy="1097280"/>
          </a:xfrm>
          <a:prstGeom prst="ellipse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2348" y="2231136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57032" y="32004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Enquadramento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348472" y="3657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posicionamento afeta a captura da postura de perfil.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796" y="1581912"/>
            <a:ext cx="256032" cy="256032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457200" y="493776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3F4F6"/>
          </a:solidFill>
          <a:ln w="12700">
            <a:solidFill>
              <a:srgbClr val="D2C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5"/>
          <p:cNvSpPr/>
          <p:nvPr/>
        </p:nvSpPr>
        <p:spPr>
          <a:xfrm>
            <a:off x="685800" y="493776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Também observado:  </a:t>
            </a:r>
            <a:r>
              <a:rPr lang="en-US" sz="125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número reduzido de participantes limita a generalização  ·  algumas situações resultaram em ausência de pose detectada.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sistema atingiu o objetivo de monitorar a postura em tempo real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89320" y="1417320"/>
            <a:ext cx="5742432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user/proj/images/usage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847" y="1545336"/>
            <a:ext cx="5443377" cy="3063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17336" y="471830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Sistema em operação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Fluxo completo implementado e testado.</a:t>
            </a:r>
            <a:endParaRPr lang="en-US" sz="1400" dirty="0"/>
          </a:p>
          <a:p>
            <a:pPr marL="228600" indent="-2286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Utilizável por pessoas sem treinamento técnico.</a:t>
            </a:r>
            <a:endParaRPr lang="en-US" sz="1400" dirty="0"/>
          </a:p>
          <a:p>
            <a:pPr marL="228600" indent="-2286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Integração viável entre visão computacional, análise geométrica e feedback visual.</a:t>
            </a:r>
            <a:endParaRPr lang="en-US" sz="1400" dirty="0"/>
          </a:p>
          <a:p>
            <a:pPr marL="228600" indent="-228600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Aproxima a teoria de uma aplicação prática de ergonomia digital.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5440680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544068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Detectar   →   Interpretar   →   Orientar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As próximas etapas são robustez, expansão e integração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3611880" cy="38862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1097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5623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5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01</a:t>
            </a:r>
            <a:endParaRPr lang="en-US" sz="3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9659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606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Robustez técnica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13232" y="3264408"/>
            <a:ext cx="3099816" cy="0"/>
          </a:xfrm>
          <a:prstGeom prst="line">
            <a:avLst/>
          </a:prstGeom>
          <a:noFill/>
          <a:ln w="12700">
            <a:solidFill>
              <a:srgbClr val="D2C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04088" y="33832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Aprimorar calibração angular e critérios geométricos.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Maior robustez em diferentes iluminações e ambientes.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78224" y="3415284"/>
            <a:ext cx="201168" cy="256032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8536" y="1600200"/>
            <a:ext cx="3611880" cy="38862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8536" y="1600200"/>
            <a:ext cx="3611880" cy="1097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17136" y="185623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5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02</a:t>
            </a:r>
            <a:endParaRPr lang="en-US" sz="3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9659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35424" y="2606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Expansão experimental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544568" y="3264408"/>
            <a:ext cx="3099816" cy="0"/>
          </a:xfrm>
          <a:prstGeom prst="line">
            <a:avLst/>
          </a:prstGeom>
          <a:noFill/>
          <a:ln w="12700">
            <a:solidFill>
              <a:srgbClr val="D2C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35424" y="33832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Analisar múltiplos usuários e diferentes posições.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Ampliar os cenários de teste.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909560" y="3415284"/>
            <a:ext cx="201168" cy="256032"/>
          </a:xfrm>
          <a:prstGeom prst="rightArrow">
            <a:avLst/>
          </a:prstGeom>
          <a:solidFill>
            <a:srgbClr val="928D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119872" y="1600200"/>
            <a:ext cx="3611880" cy="388620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2CFCA"/>
            </a:solidFill>
            <a:prstDash val="solid"/>
          </a:ln>
          <a:effectLst>
            <a:outerShdw blurRad="88900" dist="38100" dir="5400000" algn="bl" rotWithShape="0">
              <a:srgbClr val="9AA0A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119872" y="1600200"/>
            <a:ext cx="3611880" cy="109728"/>
          </a:xfrm>
          <a:prstGeom prst="rect">
            <a:avLst/>
          </a:prstGeom>
          <a:solidFill>
            <a:srgbClr val="095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348472" y="185623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D5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03</a:t>
            </a:r>
            <a:endParaRPr lang="en-US" sz="3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2" y="196596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66760" y="26060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11111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Integração da aplicação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8375904" y="3264408"/>
            <a:ext cx="3099816" cy="0"/>
          </a:xfrm>
          <a:prstGeom prst="line">
            <a:avLst/>
          </a:prstGeom>
          <a:noFill/>
          <a:ln w="12700">
            <a:solidFill>
              <a:srgbClr val="D2CF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366760" y="338328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Alertas automáticos mais sofisticados.</a:t>
            </a:r>
            <a:endParaRPr lang="en-US" sz="120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8505E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Interface mais acessível ao usuário final.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28D86"/>
                </a:solidFill>
                <a:latin typeface="Overpass"/>
                <a:ea typeface="Overpass"/>
                <a:cs typeface="Overpas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Conclusão e demonstração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E4EC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visão computacional pode transformar uma câmera comum em ferramenta de orientação postural.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E4EC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 protótipo demonstrou viabilidade técnica e boa aceitação pelos participantes.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FE0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DEMONSTRAÇÃO AO VIVO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3611880"/>
            <a:ext cx="31546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Postura alinhada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3922776"/>
            <a:ext cx="265176" cy="237744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33088" y="3611880"/>
            <a:ext cx="31546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15968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73168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Postura inadequada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0" y="3922776"/>
            <a:ext cx="265176" cy="237744"/>
          </a:xfrm>
          <a:prstGeom prst="rightArrow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07808" y="3611880"/>
            <a:ext cx="315468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2000"/>
            </a:srgbClr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90688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47888" y="3611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SemiBold" pitchFamily="34" charset="0"/>
                <a:ea typeface="Overpass SemiBold" pitchFamily="34" charset="-122"/>
                <a:cs typeface="Overpass SemiBold" pitchFamily="34" charset="-120"/>
              </a:rPr>
              <a:t>Resposta do sistema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5074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Obrigado. Perguntas?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